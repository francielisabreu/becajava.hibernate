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57" r:id="rId5"/>
    <p:sldId id="261" r:id="rId6"/>
    <p:sldId id="274" r:id="rId7"/>
    <p:sldId id="275" r:id="rId8"/>
    <p:sldId id="276" r:id="rId9"/>
    <p:sldId id="277" r:id="rId10"/>
    <p:sldId id="278" r:id="rId11"/>
    <p:sldId id="273" r:id="rId12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76" autoAdjust="0"/>
    <p:restoredTop sz="94628"/>
  </p:normalViewPr>
  <p:slideViewPr>
    <p:cSldViewPr snapToGrid="0" snapToObjects="1">
      <p:cViewPr>
        <p:scale>
          <a:sx n="60" d="100"/>
          <a:sy n="60" d="100"/>
        </p:scale>
        <p:origin x="1350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8" d="100"/>
          <a:sy n="88" d="100"/>
        </p:scale>
        <p:origin x="302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xmlns="" id="{292F4663-87B5-401A-A682-BBED3252BA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xmlns="" id="{862868A3-9809-4B14-8FB8-94E91F877F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C516B3-C473-4384-B7FF-8ADD7F75C1FE}" type="datetimeFigureOut">
              <a:rPr lang="pt-BR" smtClean="0"/>
              <a:t>02/11/2020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D642B0EB-D69D-4F20-BD67-3C0F6D1ABE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F6F2B68A-2645-47F4-9216-FEF50B8251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FA526-FC71-4A9B-B98A-8EACD2FDA4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94136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7F0A12-4F39-4D5A-823C-D0602A4169DC}" type="datetimeFigureOut">
              <a:rPr lang="pt-BR" noProof="0" smtClean="0"/>
              <a:t>02/11/2020</a:t>
            </a:fld>
            <a:endParaRPr lang="pt-BR" noProof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CAC675-7F8E-41EF-826B-CC35F9060C9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804132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AC675-7F8E-41EF-826B-CC35F9060C99}" type="slidenum">
              <a:rPr lang="pt-BR" noProof="0" smtClean="0"/>
              <a:t>1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22031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AC675-7F8E-41EF-826B-CC35F9060C99}" type="slidenum">
              <a:rPr lang="pt-BR" noProof="0" smtClean="0"/>
              <a:t>2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00111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AC675-7F8E-41EF-826B-CC35F9060C99}" type="slidenum">
              <a:rPr lang="pt-BR" noProof="0" smtClean="0"/>
              <a:t>3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67933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AC675-7F8E-41EF-826B-CC35F9060C99}" type="slidenum">
              <a:rPr lang="pt-BR" noProof="0" smtClean="0"/>
              <a:t>4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403427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AC675-7F8E-41EF-826B-CC35F9060C99}" type="slidenum">
              <a:rPr lang="pt-BR" noProof="0" smtClean="0"/>
              <a:t>5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138840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AC675-7F8E-41EF-826B-CC35F9060C99}" type="slidenum">
              <a:rPr lang="pt-BR" noProof="0" smtClean="0"/>
              <a:t>6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863151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AC675-7F8E-41EF-826B-CC35F9060C99}" type="slidenum">
              <a:rPr lang="pt-BR" noProof="0" smtClean="0"/>
              <a:t>7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865536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AC675-7F8E-41EF-826B-CC35F9060C99}" type="slidenum">
              <a:rPr lang="pt-BR" noProof="0" smtClean="0"/>
              <a:t>8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696969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915128" y="1788454"/>
            <a:ext cx="8361229" cy="2098226"/>
          </a:xfrm>
        </p:spPr>
        <p:txBody>
          <a:bodyPr rtlCol="0"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2679906" y="3956279"/>
            <a:ext cx="6831673" cy="1086237"/>
          </a:xfrm>
        </p:spPr>
        <p:txBody>
          <a:bodyPr rtlCol="0"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389D7FE2-55E6-4A94-A599-2CA89A5E779D}" type="datetime1">
              <a:rPr lang="pt-BR" noProof="0" smtClean="0"/>
              <a:t>02/11/2020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 rtlCol="0"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grpSp>
        <p:nvGrpSpPr>
          <p:cNvPr id="7" name="Grupo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orma livre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orma livre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77962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 smtClean="0"/>
              <a:t>Clique para editar o texto mestre</a:t>
            </a:r>
          </a:p>
          <a:p>
            <a:pPr lvl="1" rtl="0"/>
            <a:r>
              <a:rPr lang="pt-BR" noProof="0" smtClean="0"/>
              <a:t>Segundo nível</a:t>
            </a:r>
          </a:p>
          <a:p>
            <a:pPr lvl="2" rtl="0"/>
            <a:r>
              <a:rPr lang="pt-BR" noProof="0" smtClean="0"/>
              <a:t>Terceiro nível</a:t>
            </a:r>
          </a:p>
          <a:p>
            <a:pPr lvl="3" rtl="0"/>
            <a:r>
              <a:rPr lang="pt-BR" noProof="0" smtClean="0"/>
              <a:t>Quarto nível</a:t>
            </a:r>
          </a:p>
          <a:p>
            <a:pPr lvl="4" rtl="0"/>
            <a:r>
              <a:rPr lang="pt-BR" noProof="0" smtClean="0"/>
              <a:t>Quinto nível</a:t>
            </a:r>
            <a:endParaRPr lang="pt-BR" noProof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CFA2A5-BE05-49A1-B5A0-AD6E89B8A580}" type="datetime1">
              <a:rPr lang="pt-BR" noProof="0" smtClean="0"/>
              <a:t>02/11/2020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150405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rtlCol="0"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 smtClean="0"/>
              <a:t>Clique para editar o título mestre</a:t>
            </a:r>
            <a:endParaRPr lang="pt-BR" noProof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765025" y="4216328"/>
            <a:ext cx="9612971" cy="1143324"/>
          </a:xfrm>
        </p:spPr>
        <p:txBody>
          <a:bodyPr rtlCol="0"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4DA48DE-9B58-43A3-AF1F-472F9E49DE1C}" type="datetime1">
              <a:rPr lang="pt-BR" noProof="0" smtClean="0"/>
              <a:t>02/11/2020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 rtlCol="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7" name="Forma livre 6" title="Marca de Corte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665941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 noProof="0" smtClean="0"/>
              <a:t>Clique para editar o texto mestre</a:t>
            </a:r>
          </a:p>
          <a:p>
            <a:pPr lvl="1" rtl="0"/>
            <a:r>
              <a:rPr lang="pt-BR" noProof="0" smtClean="0"/>
              <a:t>Segundo nível</a:t>
            </a:r>
          </a:p>
          <a:p>
            <a:pPr lvl="2" rtl="0"/>
            <a:r>
              <a:rPr lang="pt-BR" noProof="0" smtClean="0"/>
              <a:t>Terceiro nível</a:t>
            </a:r>
          </a:p>
          <a:p>
            <a:pPr lvl="3" rtl="0"/>
            <a:r>
              <a:rPr lang="pt-BR" noProof="0" smtClean="0"/>
              <a:t>Quarto nível</a:t>
            </a:r>
          </a:p>
          <a:p>
            <a:pPr lvl="4" rtl="0"/>
            <a:r>
              <a:rPr lang="pt-BR" noProof="0" smtClean="0"/>
              <a:t>Quinto nível</a:t>
            </a:r>
            <a:endParaRPr lang="pt-BR" noProof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 noProof="0" smtClean="0"/>
              <a:t>Clique para editar o texto mestre</a:t>
            </a:r>
          </a:p>
          <a:p>
            <a:pPr lvl="1" rtl="0"/>
            <a:r>
              <a:rPr lang="pt-BR" noProof="0" smtClean="0"/>
              <a:t>Segundo nível</a:t>
            </a:r>
          </a:p>
          <a:p>
            <a:pPr lvl="2" rtl="0"/>
            <a:r>
              <a:rPr lang="pt-BR" noProof="0" smtClean="0"/>
              <a:t>Terceiro nível</a:t>
            </a:r>
          </a:p>
          <a:p>
            <a:pPr lvl="3" rtl="0"/>
            <a:r>
              <a:rPr lang="pt-BR" noProof="0" smtClean="0"/>
              <a:t>Quarto nível</a:t>
            </a:r>
          </a:p>
          <a:p>
            <a:pPr lvl="4" rtl="0"/>
            <a:r>
              <a:rPr lang="pt-BR" noProof="0" smtClean="0"/>
              <a:t>Quinto nível</a:t>
            </a:r>
            <a:endParaRPr lang="pt-BR" noProof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1F9AF9-570D-49F5-96C2-5581B7428804}" type="datetime1">
              <a:rPr lang="pt-BR" noProof="0" smtClean="0"/>
              <a:t>02/11/2020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32195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371600" y="685800"/>
            <a:ext cx="9601200" cy="14859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rtlCol="0"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 noProof="0" smtClean="0"/>
              <a:t>Clique para editar o texto mestre</a:t>
            </a:r>
          </a:p>
          <a:p>
            <a:pPr lvl="1" rtl="0"/>
            <a:r>
              <a:rPr lang="pt-BR" noProof="0" smtClean="0"/>
              <a:t>Segundo nível</a:t>
            </a:r>
          </a:p>
          <a:p>
            <a:pPr lvl="2" rtl="0"/>
            <a:r>
              <a:rPr lang="pt-BR" noProof="0" smtClean="0"/>
              <a:t>Terceiro nível</a:t>
            </a:r>
          </a:p>
          <a:p>
            <a:pPr lvl="3" rtl="0"/>
            <a:r>
              <a:rPr lang="pt-BR" noProof="0" smtClean="0"/>
              <a:t>Quarto nível</a:t>
            </a:r>
          </a:p>
          <a:p>
            <a:pPr lvl="4" rtl="0"/>
            <a:r>
              <a:rPr lang="pt-BR" noProof="0" smtClean="0"/>
              <a:t>Quinto nível</a:t>
            </a:r>
            <a:endParaRPr lang="pt-BR" noProof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rtlCol="0"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 noProof="0" smtClean="0"/>
              <a:t>Clique para editar o texto mestre</a:t>
            </a:r>
          </a:p>
          <a:p>
            <a:pPr lvl="1" rtl="0"/>
            <a:r>
              <a:rPr lang="pt-BR" noProof="0" smtClean="0"/>
              <a:t>Segundo nível</a:t>
            </a:r>
          </a:p>
          <a:p>
            <a:pPr lvl="2" rtl="0"/>
            <a:r>
              <a:rPr lang="pt-BR" noProof="0" smtClean="0"/>
              <a:t>Terceiro nível</a:t>
            </a:r>
          </a:p>
          <a:p>
            <a:pPr lvl="3" rtl="0"/>
            <a:r>
              <a:rPr lang="pt-BR" noProof="0" smtClean="0"/>
              <a:t>Quarto nível</a:t>
            </a:r>
          </a:p>
          <a:p>
            <a:pPr lvl="4" rtl="0"/>
            <a:r>
              <a:rPr lang="pt-BR" noProof="0" smtClean="0"/>
              <a:t>Quinto nível</a:t>
            </a:r>
            <a:endParaRPr lang="pt-BR" noProof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7F8C253-10A7-45F4-A4A9-F8652D90FC14}" type="datetime1">
              <a:rPr lang="pt-BR" noProof="0" smtClean="0"/>
              <a:t>02/11/2020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69596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F0B9ECA-8173-49BF-AEFF-A465915BFDF3}" type="datetime1">
              <a:rPr lang="pt-BR" noProof="0" smtClean="0"/>
              <a:t>02/11/2020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592791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473394-C751-4494-9506-FF8182F7CC08}" type="datetime1">
              <a:rPr lang="pt-BR" noProof="0" smtClean="0"/>
              <a:t>02/11/2020</a:t>
            </a:fld>
            <a:endParaRPr lang="pt-BR" noProof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809832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 title="Forma de Plano de Fundo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23900" y="685800"/>
            <a:ext cx="3855720" cy="2157884"/>
          </a:xfrm>
        </p:spPr>
        <p:txBody>
          <a:bodyPr rtlCol="0"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0" smtClean="0"/>
              <a:t>Clique para editar o texto mestre</a:t>
            </a:r>
          </a:p>
          <a:p>
            <a:pPr lvl="1" rtl="0"/>
            <a:r>
              <a:rPr lang="pt-BR" noProof="0" smtClean="0"/>
              <a:t>Segundo nível</a:t>
            </a:r>
          </a:p>
          <a:p>
            <a:pPr lvl="2" rtl="0"/>
            <a:r>
              <a:rPr lang="pt-BR" noProof="0" smtClean="0"/>
              <a:t>Terceiro nível</a:t>
            </a:r>
          </a:p>
          <a:p>
            <a:pPr lvl="3" rtl="0"/>
            <a:r>
              <a:rPr lang="pt-BR" noProof="0" smtClean="0"/>
              <a:t>Quarto nível</a:t>
            </a:r>
          </a:p>
          <a:p>
            <a:pPr lvl="4" rtl="0"/>
            <a:r>
              <a:rPr lang="pt-BR" noProof="0" smtClean="0"/>
              <a:t>Quinto nível</a:t>
            </a:r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23900" y="2856344"/>
            <a:ext cx="3855720" cy="3011056"/>
          </a:xfrm>
        </p:spPr>
        <p:txBody>
          <a:bodyPr rtlCol="0"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BC06315D-7CFF-4589-99E0-03B5F2A8041A}" type="datetime1">
              <a:rPr lang="pt-BR" noProof="0" smtClean="0"/>
              <a:t>02/11/2020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9" name="Retângulo 8" title="Barra divisória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84512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 title="Forma de Plano de Fundo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23900" y="685800"/>
            <a:ext cx="3855720" cy="2157884"/>
          </a:xfrm>
        </p:spPr>
        <p:txBody>
          <a:bodyPr rtlCol="0"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rtlCol="0"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 smtClean="0"/>
              <a:t>Clique no ícone para adicionar uma imagem</a:t>
            </a:r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23900" y="2855968"/>
            <a:ext cx="3855720" cy="3011432"/>
          </a:xfrm>
        </p:spPr>
        <p:txBody>
          <a:bodyPr rtlCol="0"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05143-6051-4A0B-BBDD-A5308ED862D8}" type="datetime1">
              <a:rPr lang="pt-BR" noProof="0" smtClean="0"/>
              <a:t>02/11/2020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9" name="Retângulo 8" title="Barra divisória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63938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 rtlCol="0"/>
          <a:lstStyle/>
          <a:p>
            <a:pPr lvl="0" rtl="0"/>
            <a:r>
              <a:rPr lang="pt-BR" noProof="0" smtClean="0"/>
              <a:t>Clique para editar o texto mestre</a:t>
            </a:r>
          </a:p>
          <a:p>
            <a:pPr lvl="1" rtl="0"/>
            <a:r>
              <a:rPr lang="pt-BR" noProof="0" smtClean="0"/>
              <a:t>Segundo nível</a:t>
            </a:r>
          </a:p>
          <a:p>
            <a:pPr lvl="2" rtl="0"/>
            <a:r>
              <a:rPr lang="pt-BR" noProof="0" smtClean="0"/>
              <a:t>Terceiro nível</a:t>
            </a:r>
          </a:p>
          <a:p>
            <a:pPr lvl="3" rtl="0"/>
            <a:r>
              <a:rPr lang="pt-BR" noProof="0" smtClean="0"/>
              <a:t>Quarto nível</a:t>
            </a:r>
          </a:p>
          <a:p>
            <a:pPr lvl="4" rtl="0"/>
            <a:r>
              <a:rPr lang="pt-BR" noProof="0" smtClean="0"/>
              <a:t>Quinto nível</a:t>
            </a:r>
            <a:endParaRPr lang="pt-BR" noProof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D77669B-3EE2-4B4C-A7B9-964941A33102}" type="datetime1">
              <a:rPr lang="pt-BR" noProof="0" smtClean="0"/>
              <a:t>02/11/2020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051425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9596561" y="624156"/>
            <a:ext cx="1565766" cy="5243244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 rtlCol="0"/>
          <a:lstStyle/>
          <a:p>
            <a:pPr lvl="0" rtl="0"/>
            <a:r>
              <a:rPr lang="pt-BR" noProof="0" smtClean="0"/>
              <a:t>Clique para editar o texto mestre</a:t>
            </a:r>
          </a:p>
          <a:p>
            <a:pPr lvl="1" rtl="0"/>
            <a:r>
              <a:rPr lang="pt-BR" noProof="0" smtClean="0"/>
              <a:t>Segundo nível</a:t>
            </a:r>
          </a:p>
          <a:p>
            <a:pPr lvl="2" rtl="0"/>
            <a:r>
              <a:rPr lang="pt-BR" noProof="0" smtClean="0"/>
              <a:t>Terceiro nível</a:t>
            </a:r>
          </a:p>
          <a:p>
            <a:pPr lvl="3" rtl="0"/>
            <a:r>
              <a:rPr lang="pt-BR" noProof="0" smtClean="0"/>
              <a:t>Quarto nível</a:t>
            </a:r>
          </a:p>
          <a:p>
            <a:pPr lvl="4" rtl="0"/>
            <a:r>
              <a:rPr lang="pt-BR" noProof="0" smtClean="0"/>
              <a:t>Quinto nível</a:t>
            </a:r>
            <a:endParaRPr lang="pt-BR" noProof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B6A532-0076-423B-8B0F-F6455E232C3E}" type="datetime1">
              <a:rPr lang="pt-BR" noProof="0" smtClean="0"/>
              <a:t>02/11/2020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845499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pPr rtl="0"/>
            <a:fld id="{583A29BD-C430-46D9-8F5D-894C4207287A}" type="datetime1">
              <a:rPr lang="pt-BR" noProof="0" smtClean="0"/>
              <a:t>02/11/2020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9" name="Retângulo 8" title="Barra lateral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01515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8" y="-26642"/>
            <a:ext cx="12192258" cy="6765245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xmlns="" id="{310B1DD0-264A-47E3-A16A-C87AFA51E6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ltGray">
          <a:xfrm>
            <a:off x="-258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2">
                  <a:alpha val="70000"/>
                </a:schemeClr>
              </a:gs>
              <a:gs pos="10000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sp>
        <p:nvSpPr>
          <p:cNvPr id="6" name="CaixaDeTexto 5"/>
          <p:cNvSpPr txBox="1"/>
          <p:nvPr/>
        </p:nvSpPr>
        <p:spPr>
          <a:xfrm>
            <a:off x="4427621" y="5021179"/>
            <a:ext cx="6866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smtClean="0">
                <a:solidFill>
                  <a:schemeClr val="tx2">
                    <a:lumMod val="10000"/>
                    <a:lumOff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que é e porque usá-lo?</a:t>
            </a:r>
            <a:endParaRPr lang="pt-BR" sz="3600" dirty="0">
              <a:solidFill>
                <a:schemeClr val="tx2">
                  <a:lumMod val="10000"/>
                  <a:lumOff val="9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580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tângulo 109">
            <a:extLst>
              <a:ext uri="{FF2B5EF4-FFF2-40B4-BE49-F238E27FC236}">
                <a16:creationId xmlns:a16="http://schemas.microsoft.com/office/drawing/2014/main" xmlns="" id="{0E807223-DF88-4D6D-970E-08919E5E02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2" name="Retângulo 111">
            <a:extLst>
              <a:ext uri="{FF2B5EF4-FFF2-40B4-BE49-F238E27FC236}">
                <a16:creationId xmlns:a16="http://schemas.microsoft.com/office/drawing/2014/main" xmlns="" id="{83B91B61-BFCA-4647-957E-A8269BE46F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357" y="1176084"/>
            <a:ext cx="4120378" cy="1975060"/>
          </a:xfrm>
        </p:spPr>
        <p:txBody>
          <a:bodyPr vert="horz" lIns="91440" tIns="45720" rIns="91440" bIns="45720" rtlCol="0" anchor="t">
            <a:noAutofit/>
          </a:bodyPr>
          <a:lstStyle/>
          <a:p>
            <a:pPr rtl="0">
              <a:lnSpc>
                <a:spcPct val="100000"/>
              </a:lnSpc>
            </a:pPr>
            <a:r>
              <a:rPr lang="pt-BR" sz="4000" b="1" dirty="0" smtClean="0"/>
              <a:t>Antes de tudo, vamos entender </a:t>
            </a:r>
            <a:br>
              <a:rPr lang="pt-BR" sz="4000" b="1" dirty="0" smtClean="0"/>
            </a:br>
            <a:r>
              <a:rPr lang="pt-BR" sz="4000" b="1" dirty="0" smtClean="0"/>
              <a:t>o que é o Spring</a:t>
            </a:r>
            <a:endParaRPr lang="pt-BR" sz="4000" b="1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xmlns="" id="{92D1D7C6-1C89-420C-8D35-4836541671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37354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xmlns="" id="{23F6D5E8-15CF-4755-910B-1B5A1E777357}"/>
              </a:ext>
            </a:extLst>
          </p:cNvPr>
          <p:cNvSpPr txBox="1">
            <a:spLocks/>
          </p:cNvSpPr>
          <p:nvPr/>
        </p:nvSpPr>
        <p:spPr>
          <a:xfrm>
            <a:off x="5180607" y="1177965"/>
            <a:ext cx="6176776" cy="46934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2400" dirty="0" smtClean="0"/>
              <a:t>O </a:t>
            </a:r>
            <a:r>
              <a:rPr lang="pt-BR" sz="2400" b="1" dirty="0" smtClean="0"/>
              <a:t>Spring</a:t>
            </a:r>
            <a:r>
              <a:rPr lang="pt-BR" sz="2400" dirty="0" smtClean="0"/>
              <a:t>, é um </a:t>
            </a:r>
            <a:r>
              <a:rPr lang="pt-BR" sz="2400" b="1" dirty="0" smtClean="0"/>
              <a:t>framework open </a:t>
            </a:r>
            <a:r>
              <a:rPr lang="pt-BR" sz="2400" b="1" dirty="0" err="1" smtClean="0"/>
              <a:t>source</a:t>
            </a:r>
            <a:r>
              <a:rPr lang="pt-BR" sz="2400" dirty="0" smtClean="0"/>
              <a:t>, ou seja, de código aberto, para a plataforma Java, criado por Rod Johnson. Trata-se de um framework </a:t>
            </a:r>
            <a:r>
              <a:rPr lang="pt-BR" sz="2400" b="1" dirty="0" smtClean="0"/>
              <a:t>não intrusivo</a:t>
            </a:r>
            <a:r>
              <a:rPr lang="pt-BR" sz="2400" dirty="0" smtClean="0"/>
              <a:t>, baseado nos padrões de projeto inversão de controle (</a:t>
            </a:r>
            <a:r>
              <a:rPr lang="pt-BR" sz="2400" dirty="0" err="1" smtClean="0"/>
              <a:t>IoC</a:t>
            </a:r>
            <a:r>
              <a:rPr lang="pt-BR" sz="2400" dirty="0" smtClean="0"/>
              <a:t>) e injeção de dependência</a:t>
            </a:r>
            <a:endParaRPr lang="pt-BR" sz="24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46" y="3228645"/>
            <a:ext cx="2565584" cy="256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79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tângulo 109">
            <a:extLst>
              <a:ext uri="{FF2B5EF4-FFF2-40B4-BE49-F238E27FC236}">
                <a16:creationId xmlns:a16="http://schemas.microsoft.com/office/drawing/2014/main" xmlns="" id="{0E807223-DF88-4D6D-970E-08919E5E02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2" name="Retângulo 111">
            <a:extLst>
              <a:ext uri="{FF2B5EF4-FFF2-40B4-BE49-F238E27FC236}">
                <a16:creationId xmlns:a16="http://schemas.microsoft.com/office/drawing/2014/main" xmlns="" id="{83B91B61-BFCA-4647-957E-A8269BE46F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u="sng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095" y="1150891"/>
            <a:ext cx="3602726" cy="1383762"/>
          </a:xfrm>
        </p:spPr>
        <p:txBody>
          <a:bodyPr vert="horz" lIns="91440" tIns="45720" rIns="91440" bIns="45720" rtlCol="0" anchor="t">
            <a:noAutofit/>
          </a:bodyPr>
          <a:lstStyle/>
          <a:p>
            <a:pPr rtl="0">
              <a:lnSpc>
                <a:spcPct val="100000"/>
              </a:lnSpc>
            </a:pPr>
            <a:r>
              <a:rPr lang="pt-BR" sz="4000" b="1" dirty="0" smtClean="0"/>
              <a:t>É importante saber que:</a:t>
            </a:r>
            <a:endParaRPr lang="pt-BR" sz="4000" b="1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xmlns="" id="{92D1D7C6-1C89-420C-8D35-4836541671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37354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xmlns="" id="{23F6D5E8-15CF-4755-910B-1B5A1E777357}"/>
              </a:ext>
            </a:extLst>
          </p:cNvPr>
          <p:cNvSpPr txBox="1">
            <a:spLocks/>
          </p:cNvSpPr>
          <p:nvPr/>
        </p:nvSpPr>
        <p:spPr>
          <a:xfrm>
            <a:off x="5180607" y="1177965"/>
            <a:ext cx="6176776" cy="46934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2400" b="1" dirty="0" smtClean="0"/>
              <a:t>Existem mais de 20 frameworks Spring, mas cada um deles tem a sua utilidade dentro do sistema! </a:t>
            </a:r>
            <a:r>
              <a:rPr lang="pt-BR" sz="2400" dirty="0" smtClean="0"/>
              <a:t>Segue alguns principais: Spring Boot, Spring Data JPA, </a:t>
            </a:r>
            <a:r>
              <a:rPr lang="pt-BR" sz="2400" dirty="0"/>
              <a:t>Spring </a:t>
            </a:r>
            <a:r>
              <a:rPr lang="pt-BR" sz="2400" dirty="0" smtClean="0"/>
              <a:t>Security, </a:t>
            </a:r>
            <a:r>
              <a:rPr lang="pt-BR" sz="2400" dirty="0"/>
              <a:t>Spring </a:t>
            </a:r>
            <a:r>
              <a:rPr lang="pt-BR" sz="2400" dirty="0" smtClean="0"/>
              <a:t>MVC, </a:t>
            </a:r>
          </a:p>
          <a:p>
            <a:pPr>
              <a:lnSpc>
                <a:spcPct val="150000"/>
              </a:lnSpc>
            </a:pPr>
            <a:r>
              <a:rPr lang="pt-BR" sz="2400" dirty="0" smtClean="0"/>
              <a:t>Spring Web </a:t>
            </a:r>
            <a:r>
              <a:rPr lang="pt-BR" sz="2400" dirty="0" err="1" smtClean="0"/>
              <a:t>Flow</a:t>
            </a:r>
            <a:r>
              <a:rPr lang="pt-BR" sz="2400" dirty="0" smtClean="0"/>
              <a:t>, </a:t>
            </a:r>
            <a:r>
              <a:rPr lang="pt-BR" sz="2400" dirty="0"/>
              <a:t>Spring </a:t>
            </a:r>
            <a:r>
              <a:rPr lang="pt-BR" sz="2400" dirty="0" err="1" smtClean="0"/>
              <a:t>Cloud</a:t>
            </a:r>
            <a:r>
              <a:rPr lang="pt-BR" sz="2400" dirty="0" smtClean="0"/>
              <a:t>, </a:t>
            </a:r>
          </a:p>
          <a:p>
            <a:pPr>
              <a:lnSpc>
                <a:spcPct val="150000"/>
              </a:lnSpc>
            </a:pPr>
            <a:r>
              <a:rPr lang="pt-BR" sz="2400" dirty="0" smtClean="0"/>
              <a:t>Spring Batch</a:t>
            </a:r>
            <a:endParaRPr lang="pt-BR" sz="2400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95" y="2815388"/>
            <a:ext cx="2414337" cy="2414337"/>
          </a:xfrm>
          <a:prstGeom prst="rect">
            <a:avLst/>
          </a:prstGeom>
          <a:solidFill>
            <a:srgbClr val="92D050"/>
          </a:solidFill>
        </p:spPr>
      </p:pic>
    </p:spTree>
    <p:extLst>
      <p:ext uri="{BB962C8B-B14F-4D97-AF65-F5344CB8AC3E}">
        <p14:creationId xmlns:p14="http://schemas.microsoft.com/office/powerpoint/2010/main" val="6285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tângulo 109">
            <a:extLst>
              <a:ext uri="{FF2B5EF4-FFF2-40B4-BE49-F238E27FC236}">
                <a16:creationId xmlns:a16="http://schemas.microsoft.com/office/drawing/2014/main" xmlns="" id="{0E807223-DF88-4D6D-970E-08919E5E02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2" name="Retângulo 111">
            <a:extLst>
              <a:ext uri="{FF2B5EF4-FFF2-40B4-BE49-F238E27FC236}">
                <a16:creationId xmlns:a16="http://schemas.microsoft.com/office/drawing/2014/main" xmlns="" id="{83B91B61-BFCA-4647-957E-A8269BE46F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u="sng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095" y="1150891"/>
            <a:ext cx="3602726" cy="1367720"/>
          </a:xfrm>
        </p:spPr>
        <p:txBody>
          <a:bodyPr vert="horz" lIns="91440" tIns="45720" rIns="91440" bIns="45720" rtlCol="0" anchor="t">
            <a:noAutofit/>
          </a:bodyPr>
          <a:lstStyle/>
          <a:p>
            <a:pPr rtl="0">
              <a:lnSpc>
                <a:spcPct val="100000"/>
              </a:lnSpc>
            </a:pPr>
            <a:r>
              <a:rPr lang="pt-BR" sz="4000" b="1" dirty="0" smtClean="0"/>
              <a:t>O que é o Spring Boot?</a:t>
            </a:r>
            <a:endParaRPr lang="pt-BR" sz="4000" b="1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xmlns="" id="{92D1D7C6-1C89-420C-8D35-4836541671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37354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xmlns="" id="{23F6D5E8-15CF-4755-910B-1B5A1E777357}"/>
              </a:ext>
            </a:extLst>
          </p:cNvPr>
          <p:cNvSpPr txBox="1">
            <a:spLocks/>
          </p:cNvSpPr>
          <p:nvPr/>
        </p:nvSpPr>
        <p:spPr>
          <a:xfrm>
            <a:off x="5180607" y="1177965"/>
            <a:ext cx="6176776" cy="46934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2400" dirty="0" smtClean="0"/>
              <a:t>Ele é um Projeto que está dentro do    Ecossistema Spring que ajuda a criar aplicações stand-</a:t>
            </a:r>
            <a:r>
              <a:rPr lang="pt-BR" sz="2400" dirty="0" err="1" smtClean="0"/>
              <a:t>alone</a:t>
            </a:r>
            <a:r>
              <a:rPr lang="pt-BR" sz="2400" dirty="0" smtClean="0"/>
              <a:t>, ou seja, aplicações que funcionam por conta própria. Para isso, é essencial que você tenha o Java instalado na sua máquina. </a:t>
            </a:r>
            <a:endParaRPr lang="pt-BR" sz="24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5914" y="1684050"/>
            <a:ext cx="5188059" cy="466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935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tângulo 109">
            <a:extLst>
              <a:ext uri="{FF2B5EF4-FFF2-40B4-BE49-F238E27FC236}">
                <a16:creationId xmlns:a16="http://schemas.microsoft.com/office/drawing/2014/main" xmlns="" id="{0E807223-DF88-4D6D-970E-08919E5E02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2" name="Retângulo 111">
            <a:extLst>
              <a:ext uri="{FF2B5EF4-FFF2-40B4-BE49-F238E27FC236}">
                <a16:creationId xmlns:a16="http://schemas.microsoft.com/office/drawing/2014/main" xmlns="" id="{83B91B61-BFCA-4647-957E-A8269BE46F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73" y="830049"/>
            <a:ext cx="2265105" cy="1442789"/>
          </a:xfrm>
        </p:spPr>
        <p:txBody>
          <a:bodyPr vert="horz" lIns="91440" tIns="45720" rIns="91440" bIns="45720" rtlCol="0" anchor="t">
            <a:noAutofit/>
          </a:bodyPr>
          <a:lstStyle/>
          <a:p>
            <a:pPr rtl="0">
              <a:lnSpc>
                <a:spcPct val="100000"/>
              </a:lnSpc>
            </a:pPr>
            <a:r>
              <a:rPr lang="pt-BR" sz="4000" b="1" dirty="0" smtClean="0"/>
              <a:t>E por que </a:t>
            </a:r>
            <a:br>
              <a:rPr lang="pt-BR" sz="4000" b="1" dirty="0" smtClean="0"/>
            </a:br>
            <a:r>
              <a:rPr lang="pt-BR" sz="4000" b="1" dirty="0" smtClean="0"/>
              <a:t>usá-lo?</a:t>
            </a:r>
            <a:endParaRPr lang="pt-BR" sz="4000" b="1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xmlns="" id="{92D1D7C6-1C89-420C-8D35-4836541671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37354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xmlns="" id="{23F6D5E8-15CF-4755-910B-1B5A1E777357}"/>
              </a:ext>
            </a:extLst>
          </p:cNvPr>
          <p:cNvSpPr txBox="1">
            <a:spLocks/>
          </p:cNvSpPr>
          <p:nvPr/>
        </p:nvSpPr>
        <p:spPr>
          <a:xfrm>
            <a:off x="5180606" y="818147"/>
            <a:ext cx="6401793" cy="56949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2400" dirty="0" smtClean="0"/>
              <a:t>Inicialmente quando começamos um projeto, precisamos realizar diversas configurações da aplicação. Isso leva um tempo, dessa forma o Spring Boot vem para facilitar este processo. Com ele o projeto é criado com todas as configurações necessárias. Ajuda na performance do desenvolver e facilitar na hora do </a:t>
            </a:r>
            <a:r>
              <a:rPr lang="pt-BR" sz="2400" dirty="0" err="1" smtClean="0"/>
              <a:t>deploy</a:t>
            </a:r>
            <a:r>
              <a:rPr lang="pt-BR" sz="2400" dirty="0" smtClean="0"/>
              <a:t>.</a:t>
            </a:r>
            <a:endParaRPr lang="pt-BR" sz="2400" dirty="0"/>
          </a:p>
        </p:txBody>
      </p:sp>
      <p:sp>
        <p:nvSpPr>
          <p:cNvPr id="4" name="Retângulo 3"/>
          <p:cNvSpPr/>
          <p:nvPr/>
        </p:nvSpPr>
        <p:spPr>
          <a:xfrm>
            <a:off x="874673" y="2355953"/>
            <a:ext cx="2327358" cy="242749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95" y="2272838"/>
            <a:ext cx="2708526" cy="270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495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tângulo 109">
            <a:extLst>
              <a:ext uri="{FF2B5EF4-FFF2-40B4-BE49-F238E27FC236}">
                <a16:creationId xmlns:a16="http://schemas.microsoft.com/office/drawing/2014/main" xmlns="" id="{0E807223-DF88-4D6D-970E-08919E5E02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2" name="Retângulo 111">
            <a:extLst>
              <a:ext uri="{FF2B5EF4-FFF2-40B4-BE49-F238E27FC236}">
                <a16:creationId xmlns:a16="http://schemas.microsoft.com/office/drawing/2014/main" xmlns="" id="{83B91B61-BFCA-4647-957E-A8269BE46F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xmlns="" id="{92D1D7C6-1C89-420C-8D35-4836541671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37354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xmlns="" id="{23F6D5E8-15CF-4755-910B-1B5A1E777357}"/>
              </a:ext>
            </a:extLst>
          </p:cNvPr>
          <p:cNvSpPr txBox="1">
            <a:spLocks/>
          </p:cNvSpPr>
          <p:nvPr/>
        </p:nvSpPr>
        <p:spPr>
          <a:xfrm>
            <a:off x="4891376" y="416208"/>
            <a:ext cx="6947698" cy="62733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2400" dirty="0" smtClean="0"/>
              <a:t>Java </a:t>
            </a:r>
            <a:r>
              <a:rPr lang="pt-BR" sz="2400" dirty="0" err="1" smtClean="0"/>
              <a:t>Persistence</a:t>
            </a:r>
            <a:r>
              <a:rPr lang="pt-BR" sz="2400" dirty="0" smtClean="0"/>
              <a:t> API, é uma especificação que descreve como deve ser o comportamento dos frameworks de persistência Java. Por ser uma especificação ele a JPA não tem possui código de execução. Mesmo não sendo executável, a </a:t>
            </a:r>
            <a:r>
              <a:rPr lang="pt-BR" sz="2400" dirty="0"/>
              <a:t>especificação possui algumas classes, interfaces e anotações </a:t>
            </a:r>
            <a:r>
              <a:rPr lang="pt-BR" sz="2400" dirty="0" smtClean="0"/>
              <a:t>que ajudam </a:t>
            </a:r>
            <a:r>
              <a:rPr lang="pt-BR" sz="2400" dirty="0"/>
              <a:t>o desenvolvedor a abstrair o código</a:t>
            </a:r>
            <a:r>
              <a:rPr lang="pt-BR" sz="2400" dirty="0" smtClean="0"/>
              <a:t>. Dentro da dependência do pacote “</a:t>
            </a:r>
            <a:r>
              <a:rPr lang="pt-BR" sz="2400" dirty="0" err="1" smtClean="0"/>
              <a:t>javax.persistence</a:t>
            </a:r>
            <a:r>
              <a:rPr lang="pt-BR" sz="2400" dirty="0" smtClean="0"/>
              <a:t>”, ela ajuda a manter o código independente das implementações das especificações.</a:t>
            </a:r>
            <a:endParaRPr lang="pt-BR" sz="2400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xmlns="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77" y="993725"/>
            <a:ext cx="3743937" cy="1422779"/>
          </a:xfrm>
        </p:spPr>
        <p:txBody>
          <a:bodyPr vert="horz" lIns="91440" tIns="45720" rIns="91440" bIns="45720" rtlCol="0" anchor="t">
            <a:noAutofit/>
          </a:bodyPr>
          <a:lstStyle/>
          <a:p>
            <a:pPr rtl="0">
              <a:lnSpc>
                <a:spcPct val="100000"/>
              </a:lnSpc>
            </a:pPr>
            <a:r>
              <a:rPr lang="pt-BR" sz="4000" b="1" dirty="0" smtClean="0"/>
              <a:t>O que é JPA?</a:t>
            </a:r>
            <a:endParaRPr lang="pt-BR" sz="4000" b="1" dirty="0"/>
          </a:p>
        </p:txBody>
      </p:sp>
      <p:sp>
        <p:nvSpPr>
          <p:cNvPr id="16" name="Retângulo 15"/>
          <p:cNvSpPr/>
          <p:nvPr/>
        </p:nvSpPr>
        <p:spPr>
          <a:xfrm>
            <a:off x="874673" y="2355953"/>
            <a:ext cx="2327358" cy="242749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95" y="2272838"/>
            <a:ext cx="2708526" cy="270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542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tângulo 109">
            <a:extLst>
              <a:ext uri="{FF2B5EF4-FFF2-40B4-BE49-F238E27FC236}">
                <a16:creationId xmlns:a16="http://schemas.microsoft.com/office/drawing/2014/main" xmlns="" id="{0E807223-DF88-4D6D-970E-08919E5E02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2" name="Retângulo 111">
            <a:extLst>
              <a:ext uri="{FF2B5EF4-FFF2-40B4-BE49-F238E27FC236}">
                <a16:creationId xmlns:a16="http://schemas.microsoft.com/office/drawing/2014/main" xmlns="" id="{83B91B61-BFCA-4647-957E-A8269BE46F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u="sng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xmlns="" id="{92D1D7C6-1C89-420C-8D35-4836541671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37354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xmlns="" id="{23F6D5E8-15CF-4755-910B-1B5A1E777357}"/>
              </a:ext>
            </a:extLst>
          </p:cNvPr>
          <p:cNvSpPr txBox="1">
            <a:spLocks/>
          </p:cNvSpPr>
          <p:nvPr/>
        </p:nvSpPr>
        <p:spPr>
          <a:xfrm>
            <a:off x="4891375" y="416208"/>
            <a:ext cx="7140203" cy="627334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2400" dirty="0"/>
              <a:t>A implementação é algo que pode ser executado em nossa aplicação</a:t>
            </a:r>
            <a:r>
              <a:rPr lang="pt-BR" sz="2400" dirty="0" smtClean="0"/>
              <a:t>. Qualquer </a:t>
            </a:r>
            <a:r>
              <a:rPr lang="pt-BR" sz="2400" dirty="0"/>
              <a:t>pessoa ou equipe pode escrever sua própria </a:t>
            </a:r>
            <a:r>
              <a:rPr lang="pt-BR" sz="2400" dirty="0" smtClean="0"/>
              <a:t>implementação da especificação </a:t>
            </a:r>
            <a:r>
              <a:rPr lang="pt-BR" sz="2400" dirty="0" err="1"/>
              <a:t>JPA.Dentre</a:t>
            </a:r>
            <a:r>
              <a:rPr lang="pt-BR" sz="2400" dirty="0"/>
              <a:t> as mais famosas temos o </a:t>
            </a:r>
            <a:r>
              <a:rPr lang="pt-BR" sz="2400" dirty="0" err="1"/>
              <a:t>OpenJPA</a:t>
            </a:r>
            <a:r>
              <a:rPr lang="pt-BR" sz="2400" dirty="0"/>
              <a:t> </a:t>
            </a:r>
            <a:r>
              <a:rPr lang="pt-BR" sz="2400" dirty="0" smtClean="0"/>
              <a:t>da </a:t>
            </a:r>
            <a:r>
              <a:rPr lang="pt-BR" sz="2400" dirty="0"/>
              <a:t>Apache, o </a:t>
            </a:r>
            <a:r>
              <a:rPr lang="pt-BR" sz="2400" dirty="0" err="1"/>
              <a:t>Hibernate</a:t>
            </a:r>
            <a:r>
              <a:rPr lang="pt-BR" sz="2400" dirty="0"/>
              <a:t> da </a:t>
            </a:r>
            <a:r>
              <a:rPr lang="pt-BR" sz="2400" dirty="0" err="1"/>
              <a:t>Red</a:t>
            </a:r>
            <a:r>
              <a:rPr lang="pt-BR" sz="2400" dirty="0"/>
              <a:t> </a:t>
            </a:r>
            <a:r>
              <a:rPr lang="pt-BR" sz="2400" dirty="0" err="1"/>
              <a:t>Hat</a:t>
            </a:r>
            <a:r>
              <a:rPr lang="pt-BR" sz="2400" dirty="0"/>
              <a:t> e o </a:t>
            </a:r>
            <a:r>
              <a:rPr lang="pt-BR" sz="2400" dirty="0" err="1"/>
              <a:t>EclipseLink</a:t>
            </a:r>
            <a:r>
              <a:rPr lang="pt-BR" sz="2400" dirty="0"/>
              <a:t> da Eclipse Foundation</a:t>
            </a:r>
            <a:r>
              <a:rPr lang="pt-BR" sz="2400" dirty="0" smtClean="0"/>
              <a:t>. As  mais </a:t>
            </a:r>
            <a:r>
              <a:rPr lang="pt-BR" sz="2400" dirty="0"/>
              <a:t>importantes são o </a:t>
            </a:r>
            <a:r>
              <a:rPr lang="pt-BR" sz="2400" dirty="0" err="1"/>
              <a:t>Hibernate</a:t>
            </a:r>
            <a:r>
              <a:rPr lang="pt-BR" sz="2400" dirty="0"/>
              <a:t>, por ainda ser a mais utilizada, e o</a:t>
            </a:r>
          </a:p>
          <a:p>
            <a:pPr>
              <a:lnSpc>
                <a:spcPct val="150000"/>
              </a:lnSpc>
            </a:pPr>
            <a:r>
              <a:rPr lang="pt-BR" sz="2400" dirty="0" err="1"/>
              <a:t>EclipseLink</a:t>
            </a:r>
            <a:r>
              <a:rPr lang="pt-BR" sz="2400" dirty="0"/>
              <a:t>, por ser a implementação de referência.</a:t>
            </a:r>
          </a:p>
          <a:p>
            <a:pPr>
              <a:lnSpc>
                <a:spcPct val="150000"/>
              </a:lnSpc>
            </a:pPr>
            <a:r>
              <a:rPr lang="pt-BR" sz="2400" dirty="0" smtClean="0"/>
              <a:t>A </a:t>
            </a:r>
            <a:r>
              <a:rPr lang="pt-BR" sz="2400" dirty="0"/>
              <a:t>grande ideia da especificação JPA é que a </a:t>
            </a:r>
            <a:r>
              <a:rPr lang="pt-BR" sz="2400" dirty="0" smtClean="0"/>
              <a:t>aplicação possa </a:t>
            </a:r>
            <a:r>
              <a:rPr lang="pt-BR" sz="2400" dirty="0"/>
              <a:t>trocar de implementação sem que precise de </a:t>
            </a:r>
            <a:r>
              <a:rPr lang="pt-BR" sz="2400" dirty="0" smtClean="0"/>
              <a:t>mudanças no </a:t>
            </a:r>
            <a:r>
              <a:rPr lang="pt-BR" sz="2400" dirty="0"/>
              <a:t>código. Apenas um pouco de configuração.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xmlns="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77" y="993725"/>
            <a:ext cx="3743937" cy="1422779"/>
          </a:xfrm>
        </p:spPr>
        <p:txBody>
          <a:bodyPr vert="horz" lIns="91440" tIns="45720" rIns="91440" bIns="45720" rtlCol="0" anchor="t">
            <a:noAutofit/>
          </a:bodyPr>
          <a:lstStyle/>
          <a:p>
            <a:pPr rtl="0">
              <a:lnSpc>
                <a:spcPct val="100000"/>
              </a:lnSpc>
            </a:pPr>
            <a:r>
              <a:rPr lang="pt-BR" sz="4000" b="1" dirty="0" smtClean="0"/>
              <a:t>Implementação</a:t>
            </a:r>
            <a:br>
              <a:rPr lang="pt-BR" sz="4000" b="1" dirty="0" smtClean="0"/>
            </a:br>
            <a:r>
              <a:rPr lang="pt-BR" sz="4000" b="1" dirty="0" smtClean="0"/>
              <a:t>e especificação</a:t>
            </a:r>
            <a:endParaRPr lang="pt-BR" sz="4000" b="1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xmlns="" id="{23F6D5E8-15CF-4755-910B-1B5A1E777357}"/>
              </a:ext>
            </a:extLst>
          </p:cNvPr>
          <p:cNvSpPr txBox="1">
            <a:spLocks/>
          </p:cNvSpPr>
          <p:nvPr/>
        </p:nvSpPr>
        <p:spPr>
          <a:xfrm>
            <a:off x="279464" y="2785984"/>
            <a:ext cx="3743937" cy="27148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2000" dirty="0" smtClean="0"/>
              <a:t>“A </a:t>
            </a:r>
            <a:r>
              <a:rPr lang="pt-BR" sz="2000" b="1" dirty="0"/>
              <a:t>implementação</a:t>
            </a:r>
            <a:r>
              <a:rPr lang="pt-BR" sz="2000" dirty="0"/>
              <a:t> é o </a:t>
            </a:r>
            <a:r>
              <a:rPr lang="pt-BR" sz="2000" b="1" dirty="0"/>
              <a:t>resultado aplicado </a:t>
            </a:r>
            <a:r>
              <a:rPr lang="pt-BR" sz="2000" dirty="0"/>
              <a:t>(concreto) de </a:t>
            </a:r>
            <a:r>
              <a:rPr lang="pt-BR" sz="2000" dirty="0" smtClean="0"/>
              <a:t>uma especificação</a:t>
            </a:r>
            <a:r>
              <a:rPr lang="pt-BR" sz="2000" dirty="0"/>
              <a:t>, </a:t>
            </a:r>
            <a:r>
              <a:rPr lang="pt-BR" sz="2000" b="1" dirty="0"/>
              <a:t>por motivos técnicos</a:t>
            </a:r>
            <a:r>
              <a:rPr lang="pt-BR" sz="2000" dirty="0"/>
              <a:t>, de desempenho ou de</a:t>
            </a:r>
          </a:p>
          <a:p>
            <a:pPr>
              <a:lnSpc>
                <a:spcPct val="100000"/>
              </a:lnSpc>
            </a:pPr>
            <a:r>
              <a:rPr lang="pt-BR" sz="2000" dirty="0"/>
              <a:t>utilização a implementação </a:t>
            </a:r>
            <a:r>
              <a:rPr lang="pt-BR" sz="2000" b="1" dirty="0"/>
              <a:t>pode</a:t>
            </a:r>
            <a:r>
              <a:rPr lang="pt-BR" sz="2000" dirty="0"/>
              <a:t> </a:t>
            </a:r>
            <a:r>
              <a:rPr lang="pt-BR" sz="2000" b="1" dirty="0"/>
              <a:t>ser </a:t>
            </a:r>
            <a:r>
              <a:rPr lang="pt-BR" sz="2000" dirty="0"/>
              <a:t>totalmente </a:t>
            </a:r>
            <a:r>
              <a:rPr lang="pt-BR" sz="2000" b="1" dirty="0"/>
              <a:t>diferente</a:t>
            </a:r>
          </a:p>
          <a:p>
            <a:pPr>
              <a:lnSpc>
                <a:spcPct val="100000"/>
              </a:lnSpc>
            </a:pPr>
            <a:r>
              <a:rPr lang="pt-BR" sz="2000" dirty="0"/>
              <a:t>da </a:t>
            </a:r>
            <a:r>
              <a:rPr lang="pt-BR" sz="2000" b="1" dirty="0"/>
              <a:t>especificação</a:t>
            </a:r>
            <a:r>
              <a:rPr lang="pt-BR" sz="2000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977505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Mulher carregando pasta executiva seguindo o caminho">
            <a:extLst>
              <a:ext uri="{FF2B5EF4-FFF2-40B4-BE49-F238E27FC236}">
                <a16:creationId xmlns:a16="http://schemas.microsoft.com/office/drawing/2014/main" xmlns="" id="{6BE62510-A175-9D47-9EDF-D9FB6C162CE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9300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xmlns="" id="{310B1DD0-264A-47E3-A16A-C87AFA51E6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ltGray">
          <a:xfrm>
            <a:off x="-258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2">
                  <a:alpha val="70000"/>
                </a:schemeClr>
              </a:gs>
              <a:gs pos="10000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sp>
        <p:nvSpPr>
          <p:cNvPr id="13" name="Forma livre 6">
            <a:extLst>
              <a:ext uri="{FF2B5EF4-FFF2-40B4-BE49-F238E27FC236}">
                <a16:creationId xmlns:a16="http://schemas.microsoft.com/office/drawing/2014/main" xmlns="" id="{69C1BB7B-F21E-41A2-B30C-D8507B96028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 flipH="1" flipV="1">
            <a:off x="752858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5" name="Forma livre 6">
            <a:extLst>
              <a:ext uri="{FF2B5EF4-FFF2-40B4-BE49-F238E27FC236}">
                <a16:creationId xmlns:a16="http://schemas.microsoft.com/office/drawing/2014/main" xmlns="" id="{DF6D7DDE-F8A1-4105-9729-F9EB5F81A36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5C93519-6B29-1346-9FCB-0835B8053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rtlCol="0">
            <a:normAutofit/>
          </a:bodyPr>
          <a:lstStyle/>
          <a:p>
            <a:pPr rtl="0"/>
            <a:r>
              <a:rPr lang="pt-BR">
                <a:solidFill>
                  <a:schemeClr val="bg2"/>
                </a:solidFill>
              </a:rPr>
              <a:t>Obrigado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D698B4E1-5F4F-8E4F-97D2-0176CBCC4A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 rtlCol="0">
            <a:normAutofit/>
          </a:bodyPr>
          <a:lstStyle/>
          <a:p>
            <a:pPr rtl="0"/>
            <a:r>
              <a:rPr lang="pt-BR" dirty="0" err="1" smtClean="0">
                <a:solidFill>
                  <a:schemeClr val="bg2"/>
                </a:solidFill>
              </a:rPr>
              <a:t>Franceli</a:t>
            </a:r>
            <a:r>
              <a:rPr lang="pt-BR" dirty="0" smtClean="0">
                <a:solidFill>
                  <a:schemeClr val="bg2"/>
                </a:solidFill>
              </a:rPr>
              <a:t> Abreu</a:t>
            </a:r>
            <a:endParaRPr lang="pt-BR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120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rtar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>Spring Boot</MediaServiceKeyPoints>
  </documentManagement>
</p:properties>
</file>

<file path=customXml/itemProps1.xml><?xml version="1.0" encoding="utf-8"?>
<ds:datastoreItem xmlns:ds="http://schemas.openxmlformats.org/officeDocument/2006/customXml" ds:itemID="{04082C27-02EB-4B4A-A84F-7021AA79D4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26757D5-6F93-45B0-82A2-39BC87D70F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155078-021E-49AB-8F30-C53CA1A5999D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16c05727-aa75-4e4a-9b5f-8a80a1165891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71af3243-3dd4-4a8d-8c0d-dd76da1f02a5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Viagem (design Corte)</Template>
  <TotalTime>0</TotalTime>
  <Words>440</Words>
  <Application>Microsoft Office PowerPoint</Application>
  <PresentationFormat>Widescreen</PresentationFormat>
  <Paragraphs>30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Franklin Gothic Book</vt:lpstr>
      <vt:lpstr>Cortar</vt:lpstr>
      <vt:lpstr>Apresentação do PowerPoint</vt:lpstr>
      <vt:lpstr>Antes de tudo, vamos entender  o que é o Spring</vt:lpstr>
      <vt:lpstr>É importante saber que:</vt:lpstr>
      <vt:lpstr>O que é o Spring Boot?</vt:lpstr>
      <vt:lpstr>E por que  usá-lo?</vt:lpstr>
      <vt:lpstr>O que é JPA?</vt:lpstr>
      <vt:lpstr>Implementação e especificação</vt:lpstr>
      <vt:lpstr>Obrigado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ppt_spring_jpa</dc:title>
  <dc:creator/>
  <cp:lastModifiedBy/>
  <cp:revision>1</cp:revision>
  <dcterms:created xsi:type="dcterms:W3CDTF">2020-11-03T00:01:22Z</dcterms:created>
  <dcterms:modified xsi:type="dcterms:W3CDTF">2020-11-03T02:23:27Z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